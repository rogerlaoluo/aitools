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9144000" cy="68580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31" Type="http://schemas.openxmlformats.org/officeDocument/2006/relationships/slide" Target="slides/slide31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18" Type="http://schemas.openxmlformats.org/officeDocument/2006/relationships/slide" Target="slides/slide18.xml" /><Relationship Id="rId34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3" Type="http://schemas.openxmlformats.org/officeDocument/2006/relationships/slide" Target="slides/slide23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32" Type="http://schemas.openxmlformats.org/officeDocument/2006/relationships/slide" Target="slides/slide32.xml" /><Relationship Id="rId33" Type="http://schemas.openxmlformats.org/officeDocument/2006/relationships/slide" Target="slides/slide3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1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" name="TextBox 2"/>
          <p:cNvSpPr txBox="true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true">
                <a:solidFill>
                  <a:srgbClr val="FFFFFF"/>
                </a:solidFill>
              </a:defRPr>
            </a:pPr>
            <a:r>
              <a:rPr/>
              <a:t>Jira 洞察报告</a:t>
            </a:r>
            <a:endParaRPr/>
          </a:p>
        </p:txBody>
      </p:sp>
      <p:sp>
        <p:nvSpPr>
          <p:cNvPr id="4" name="TextBox 3"/>
          <p:cNvSpPr txBox="true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rPr/>
              <a:t>商业洞察与战略分析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3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目录</a:t>
            </a:r>
            <a:endParaRPr/>
          </a:p>
        </p:txBody>
      </p:sp>
      <p:sp>
        <p:nvSpPr>
          <p:cNvPr id="54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01 公司概况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02 商业模式分析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03 技术架构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04 销售与市场策略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05 用户画像与细分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06 留存机制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07 竞争格局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08 关键洞察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09 结论与未来展望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03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0052CC"/>
                </a:solidFill>
              </a:defRPr>
            </a:pPr>
            <a:r>
              <a:rPr/>
              <a:t>01</a:t>
            </a:r>
            <a:endParaRPr/>
          </a:p>
        </p:txBody>
      </p:sp>
      <p:sp>
        <p:nvSpPr>
          <p:cNvPr id="104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公司概况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23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Atlassian 公司概况</a:t>
            </a:r>
            <a:endParaRPr/>
          </a:p>
        </p:txBody>
      </p:sp>
      <p:graphicFrame>
        <p:nvGraphicFramePr>
          <p:cNvPr id="124" name="Table 3"/>
          <p:cNvGraphicFramePr/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4114800"/>
                <a:gridCol w="41148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指标</a:t>
                      </a:r>
                      <a:endParaRPr/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数据</a:t>
                      </a:r>
                      <a:endParaRPr/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成立时间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2002年 (澳大利亚悉尼)</a:t>
                      </a:r>
                      <a:endParaRPr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上市时间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2015年 (纳斯达克: TEAM)</a:t>
                      </a:r>
                      <a:endParaRPr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市值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~710亿美元</a:t>
                      </a:r>
                      <a:endParaRPr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2024财年收入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~41亿美元</a:t>
                      </a:r>
                      <a:endParaRPr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2025财年收入(估)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52亿美元 (+20%)</a:t>
                      </a:r>
                      <a:endParaRPr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客户数量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30万+</a:t>
                      </a:r>
                      <a:endParaRPr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云ARR&gt;$10K客户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45,842家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27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Jira 产品生态</a:t>
            </a:r>
            <a:endParaRPr/>
          </a:p>
        </p:txBody>
      </p:sp>
      <p:sp>
        <p:nvSpPr>
          <p:cNvPr id="128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Jira Software - 敏捷项目管理与问题跟踪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Jira Service Management - IT服务管理与支持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Jira Work Management - 业务项目管理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与 Confluence 深度集成(文档协作)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与 Bitbucket 深度集成(代码管理)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Marketplace: 10,000+ 第三方应用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31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0052CC"/>
                </a:solidFill>
              </a:defRPr>
            </a:pPr>
            <a:r>
              <a:rPr/>
              <a:t>02</a:t>
            </a:r>
            <a:endParaRPr/>
          </a:p>
        </p:txBody>
      </p:sp>
      <p:sp>
        <p:nvSpPr>
          <p:cNvPr id="132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商业模式分析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35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收入结构</a:t>
            </a:r>
            <a:endParaRPr/>
          </a:p>
        </p:txBody>
      </p:sp>
      <p:graphicFrame>
        <p:nvGraphicFramePr>
          <p:cNvPr id="136" name="Table 3"/>
          <p:cNvGraphicFramePr/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构成部分</a:t>
                      </a:r>
                      <a:endParaRPr/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2024年占比</a:t>
                      </a:r>
                      <a:endParaRPr/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趋势</a:t>
                      </a:r>
                      <a:endParaRPr/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云收入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66%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持续增长</a:t>
                      </a:r>
                      <a:endParaRPr/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订阅收入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50%+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核心驱动</a:t>
                      </a:r>
                      <a:endParaRPr/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维护收入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逐步下降</a:t>
                      </a:r>
                      <a:endParaRPr/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其他收入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保持稳定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39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产品驱动增长 (PLG) 模式</a:t>
            </a:r>
            <a:endParaRPr/>
          </a:p>
        </p:txBody>
      </p:sp>
      <p:sp>
        <p:nvSpPr>
          <p:cNvPr id="140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自助式获客 - 免费试用，即时产品体验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自下而上渗透 - 团队自发采用，然后扩展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病毒式增长 - 用户驱动推荐和扩张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低获客成本 - 销售成本约12% vs 行业20-30%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高净留存率 - 120%+ 净收入留存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43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2024年定价变革</a:t>
            </a:r>
            <a:endParaRPr/>
          </a:p>
        </p:txBody>
      </p:sp>
      <p:sp>
        <p:nvSpPr>
          <p:cNvPr id="144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从按用户收费转向分级定价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Free: 10用户，基础功能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Standard: 核心功能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Premium: 企业级功能 (+20-30%)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Enterprise: 大规模部署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引入MQB(最大用量计费)模式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全产品线涨价 7-20%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0052CC"/>
                </a:solidFill>
              </a:defRPr>
            </a:pPr>
            <a:r>
              <a:rPr/>
              <a:t>03</a:t>
            </a:r>
            <a:endParaRPr/>
          </a:p>
        </p:txBody>
      </p:sp>
      <p:sp>
        <p:nvSpPr>
          <p:cNvPr id="8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技术架构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Cloud vs Data Center 对比</a:t>
            </a:r>
            <a:endParaRPr/>
          </a:p>
        </p:txBody>
      </p:sp>
      <p:sp>
        <p:nvSpPr>
          <p:cNvPr id="12" name="TextBox 3"/>
          <p:cNvSpPr txBox="true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FF8000"/>
                </a:solidFill>
              </a:defRPr>
            </a:pPr>
            <a:r>
              <a:rPr/>
              <a:t>Jira Cloud</a:t>
            </a:r>
            <a:endParaRPr/>
          </a:p>
        </p:txBody>
      </p:sp>
      <p:sp>
        <p:nvSpPr>
          <p:cNvPr id="13" name="TextBox 4"/>
          <p:cNvSpPr txBox="true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SaaS云托管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微服务架构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自动弹性扩展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零维护成本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自动更新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Atlassian托管</a:t>
            </a:r>
            <a:endParaRPr/>
          </a:p>
        </p:txBody>
      </p:sp>
      <p:sp>
        <p:nvSpPr>
          <p:cNvPr id="14" name="TextBox 5"/>
          <p:cNvSpPr txBox="true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FF8000"/>
                </a:solidFill>
              </a:defRPr>
            </a:pPr>
            <a:r>
              <a:rPr/>
              <a:t>Data Center</a:t>
            </a:r>
            <a:endParaRPr/>
          </a:p>
        </p:txBody>
      </p:sp>
      <p:sp>
        <p:nvSpPr>
          <p:cNvPr id="15" name="TextBox 6"/>
          <p:cNvSpPr txBox="true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自托管集群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单体/集群架构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手动扩展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需运维团队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手动升级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客户自主控制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8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Jira Cloud 技术栈</a:t>
            </a:r>
            <a:endParaRPr/>
          </a:p>
        </p:txBody>
      </p:sp>
      <p:sp>
        <p:nvSpPr>
          <p:cNvPr id="19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架构模式: 微服务架构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后端: Java/JavaEE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数据库: AWS Aurora (PostgreSQL)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缓存: Redis 集群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存储: S3 对象存储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消息队列: Kafka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AI能力: Atlassian Intelligence (Rovo)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2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2024年数据库迁移</a:t>
            </a:r>
            <a:endParaRPr/>
          </a:p>
        </p:txBody>
      </p:sp>
      <p:sp>
        <p:nvSpPr>
          <p:cNvPr id="23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成功迁移400万个数据库至AWS Aurora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运营成本降低 50%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可靠性提升至 99.99%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支撑云业务快速扩张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6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0052CC"/>
                </a:solidFill>
              </a:defRPr>
            </a:pPr>
            <a:r>
              <a:rPr/>
              <a:t>04</a:t>
            </a:r>
            <a:endParaRPr/>
          </a:p>
        </p:txBody>
      </p:sp>
      <p:sp>
        <p:nvSpPr>
          <p:cNvPr id="27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销售与市场策略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0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混合销售模式</a:t>
            </a:r>
            <a:endParaRPr/>
          </a:p>
        </p:txBody>
      </p:sp>
      <p:sp>
        <p:nvSpPr>
          <p:cNvPr id="31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自助服务 (ARR &lt;$10K)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网站驱动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免费试用转付费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中型市场 ($10K-$100K)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销售辅助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接触式销售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企业级 (ARR &gt;$100K)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直销团队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客户经理制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4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合作伙伴生态</a:t>
            </a:r>
            <a:endParaRPr/>
          </a:p>
        </p:txBody>
      </p:sp>
      <p:sp>
        <p:nvSpPr>
          <p:cNvPr id="35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Solution Partners - 解决方案合作伙伴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实施部署与咨询服务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Expert Partners - 专家合作伙伴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特定领域专业能力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Resellers - 经销商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区域分销，尤其在亚太地区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Marketplace Partners - 应用开发者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第三方插件开发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全球 10,000+ 合作伙伴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8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0052CC"/>
                </a:solidFill>
              </a:defRPr>
            </a:pPr>
            <a:r>
              <a:rPr/>
              <a:t>05</a:t>
            </a:r>
            <a:endParaRPr/>
          </a:p>
        </p:txBody>
      </p:sp>
      <p:sp>
        <p:nvSpPr>
          <p:cNvPr id="39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用户画像与细分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2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市场定位</a:t>
            </a:r>
            <a:endParaRPr/>
          </a:p>
        </p:txBody>
      </p:sp>
      <p:sp>
        <p:nvSpPr>
          <p:cNvPr id="43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项目管理工具市场份额约 30%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市场领导者地位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定位: 企业级、高度可定制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主要竞争对手: Linear、Asana、Monday.com、Azure DevOps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6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客户细分</a:t>
            </a:r>
            <a:endParaRPr/>
          </a:p>
        </p:txBody>
      </p:sp>
      <p:sp>
        <p:nvSpPr>
          <p:cNvPr id="47" name="TextBox 3"/>
          <p:cNvSpPr txBox="true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FF8000"/>
                </a:solidFill>
              </a:defRPr>
            </a:pPr>
            <a:r>
              <a:rPr/>
              <a:t>Enterprise</a:t>
            </a:r>
            <a:endParaRPr/>
          </a:p>
        </p:txBody>
      </p:sp>
      <p:sp>
        <p:nvSpPr>
          <p:cNvPr id="48" name="TextBox 4"/>
          <p:cNvSpPr txBox="true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企业级客户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决策者: CIO/CTO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关注: ROI、安全、可扩展性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预算: $50K-$500K+</a:t>
            </a:r>
            <a:endParaRPr/>
          </a:p>
        </p:txBody>
      </p:sp>
      <p:sp>
        <p:nvSpPr>
          <p:cNvPr id="49" name="TextBox 5"/>
          <p:cNvSpPr txBox="true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FF8000"/>
                </a:solidFill>
              </a:defRPr>
            </a:pPr>
            <a:r>
              <a:rPr/>
              <a:t>Mid-Market</a:t>
            </a:r>
            <a:endParaRPr/>
          </a:p>
        </p:txBody>
      </p:sp>
      <p:sp>
        <p:nvSpPr>
          <p:cNvPr id="50" name="TextBox 6"/>
          <p:cNvSpPr txBox="true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中型市场客户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影响者: 工程总监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关注: 团队效率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预算: $10K-$100K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7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核心用户角色</a:t>
            </a:r>
            <a:endParaRPr/>
          </a:p>
        </p:txBody>
      </p:sp>
      <p:sp>
        <p:nvSpPr>
          <p:cNvPr id="58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产品经理 (28-40岁)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需求管理、版本规划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软件工程师 (25-35岁)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任务跟踪、进度更新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项目经理/Scrum Master (30-45岁)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迭代规划、团队协调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技术负责人 (32-50岁)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数据分析、团队效能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1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0052CC"/>
                </a:solidFill>
              </a:defRPr>
            </a:pPr>
            <a:r>
              <a:rPr/>
              <a:t>06</a:t>
            </a:r>
            <a:endParaRPr/>
          </a:p>
        </p:txBody>
      </p:sp>
      <p:sp>
        <p:nvSpPr>
          <p:cNvPr id="62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留存机制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5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三层留存体系</a:t>
            </a:r>
            <a:endParaRPr/>
          </a:p>
        </p:txBody>
      </p:sp>
      <p:sp>
        <p:nvSpPr>
          <p:cNvPr id="66" name="TextBox 3"/>
          <p:cNvSpPr txBox="true"/>
          <p:nvPr/>
        </p:nvSpPr>
        <p:spPr>
          <a:xfrm rot="0" flipH="false" flipV="false">
            <a:off x="0" y="1228100"/>
            <a:ext cx="8794750" cy="572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产品</a:t>
            </a:r>
            <a:r>
              <a:rPr lang="zh-CN"/>
              <a:t>锁定</a:t>
            </a:r>
            <a:endParaRPr/>
          </a:p>
          <a:p>
            <a:pPr marL="342900" lvl="0" indent="-342900">
              <a:spcAft>
                <a:spcPts val="1200"/>
              </a:spcAft>
              <a:buFont typeface="Wingdings" charset="2"/>
              <a:buChar char="l"/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600"/>
              <a:t>   </a:t>
            </a:r>
            <a:r>
              <a:rPr lang="zh-CN" sz="1600"/>
              <a:t>深度集成</a:t>
            </a:r>
            <a:endParaRPr/>
          </a:p>
          <a:p>
            <a:pPr marL="342900" lvl="0" indent="-342900">
              <a:spcAft>
                <a:spcPts val="1200"/>
              </a:spcAft>
              <a:buFont typeface="Wingdings" charset="2"/>
              <a:buChar char="l"/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600"/>
              <a:t>   </a:t>
            </a:r>
            <a:r>
              <a:rPr lang="zh-CN" sz="1600"/>
              <a:t>工作流定制</a:t>
            </a:r>
            <a:endParaRPr/>
          </a:p>
          <a:p>
            <a:pPr marL="342900" lvl="0" indent="-342900">
              <a:spcAft>
                <a:spcPts val="1200"/>
              </a:spcAft>
              <a:buFont typeface="Wingdings" charset="2"/>
              <a:buChar char="l"/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600"/>
              <a:t>   </a:t>
            </a:r>
            <a:r>
              <a:rPr lang="zh-CN" sz="1600"/>
              <a:t>团队习惯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生态</a:t>
            </a:r>
            <a:r>
              <a:rPr lang="zh-CN"/>
              <a:t>锁定</a:t>
            </a:r>
            <a:endParaRPr/>
          </a:p>
          <a:p>
            <a:pPr marL="342900" lvl="0" indent="-342900">
              <a:spcAft>
                <a:spcPts val="1200"/>
              </a:spcAft>
              <a:buFont typeface="Wingdings" charset="2"/>
              <a:buChar char="l"/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600"/>
              <a:t>    MarketPlace</a:t>
            </a:r>
            <a:endParaRPr/>
          </a:p>
          <a:p>
            <a:pPr marL="342900" lvl="0" indent="-342900">
              <a:buFont typeface="Wingdings" charset="2"/>
              <a:buChar char="l"/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600"/>
              <a:t>   </a:t>
            </a:r>
            <a:r>
              <a:rPr lang="zh-CN" sz="1600"/>
              <a:t>工具链协同</a:t>
            </a:r>
            <a:endParaRPr/>
          </a:p>
          <a:p>
            <a:pPr marL="342900" lvl="0" indent="-342900">
              <a:spcAft>
                <a:spcPts val="1200"/>
              </a:spcAft>
              <a:buFont typeface="Wingdings" charset="2"/>
              <a:buChar char="l"/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600"/>
              <a:t>   </a:t>
            </a:r>
            <a:r>
              <a:rPr lang="zh-CN" sz="1600"/>
              <a:t>学习成本</a:t>
            </a:r>
            <a:r>
              <a:rPr/>
              <a:t> 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数据</a:t>
            </a:r>
            <a:r>
              <a:rPr lang="zh-CN"/>
              <a:t>锁定</a:t>
            </a:r>
            <a:endParaRPr/>
          </a:p>
          <a:p>
            <a:pPr marL="342900" lvl="0" indent="-342900" algn="l" defTabSz="457200">
              <a:lnSpc>
                <a:spcPct val="100000"/>
              </a:lnSpc>
              <a:spcAft>
                <a:spcPts val="1200"/>
              </a:spcAft>
              <a:buFont typeface="Wingdings" charset="2"/>
              <a:buChar char="l"/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600"/>
              <a:t>   </a:t>
            </a:r>
            <a:r>
              <a:rPr lang="zh-CN" sz="1600"/>
              <a:t>历史数据</a:t>
            </a:r>
            <a:endParaRPr/>
          </a:p>
          <a:p>
            <a:pPr marL="342900" lvl="0" indent="-342900" algn="l" defTabSz="457200">
              <a:lnSpc>
                <a:spcPct val="100000"/>
              </a:lnSpc>
              <a:spcAft>
                <a:spcPts val="1200"/>
              </a:spcAft>
              <a:buFont typeface="Wingdings" charset="2"/>
              <a:buChar char="l"/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6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rPr>
              <a:t>   </a:t>
            </a:r>
            <a:r>
              <a:rPr lang="zh-CN" sz="16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rPr>
              <a:t>知识沉淀</a:t>
            </a:r>
            <a:endParaRPr/>
          </a:p>
          <a:p>
            <a:pPr marL="342900" lvl="0" indent="-342900" algn="l" defTabSz="457200">
              <a:lnSpc>
                <a:spcPct val="100000"/>
              </a:lnSpc>
              <a:spcAft>
                <a:spcPts val="1200"/>
              </a:spcAft>
              <a:buFont typeface="Wingdings" charset="2"/>
              <a:buChar char="l"/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6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rPr>
              <a:t>   </a:t>
            </a:r>
            <a:r>
              <a:rPr sz="16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rPr>
              <a:t> </a:t>
            </a:r>
            <a:r>
              <a:rPr lang="zh-CN" sz="16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rPr>
              <a:t>迁移成本</a:t>
            </a:r>
            <a:endParaRPr/>
          </a:p>
          <a:p>
            <a:pPr>
              <a:spcAft>
                <a:spcPts val="1200"/>
              </a:spcAft>
              <a:defRPr sz="2000">
                <a:solidFill>
                  <a:srgbClr val="6B778C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9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留存率对比</a:t>
            </a:r>
            <a:endParaRPr/>
          </a:p>
        </p:txBody>
      </p:sp>
      <p:graphicFrame>
        <p:nvGraphicFramePr>
          <p:cNvPr id="70" name="Table 3"/>
          <p:cNvGraphicFramePr/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指标</a:t>
                      </a:r>
                      <a:endParaRPr/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Jira</a:t>
                      </a:r>
                      <a:endParaRPr/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行业平均</a:t>
                      </a:r>
                      <a:endParaRPr/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月度流失率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2-3%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5-7%</a:t>
                      </a:r>
                      <a:endParaRPr/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年度净留存率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120%+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110%</a:t>
                      </a:r>
                      <a:endParaRPr/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扩张收入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高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中等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3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0052CC"/>
                </a:solidFill>
              </a:defRPr>
            </a:pPr>
            <a:r>
              <a:rPr/>
              <a:t>07</a:t>
            </a:r>
            <a:endParaRPr/>
          </a:p>
        </p:txBody>
      </p:sp>
      <p:sp>
        <p:nvSpPr>
          <p:cNvPr id="74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竞争格局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7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竞争定位</a:t>
            </a:r>
            <a:endParaRPr/>
          </a:p>
        </p:txBody>
      </p:sp>
      <p:graphicFrame>
        <p:nvGraphicFramePr>
          <p:cNvPr id="78" name="Table 3"/>
          <p:cNvGraphicFramePr/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产品</a:t>
                      </a:r>
                      <a:endParaRPr/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市场定位</a:t>
                      </a:r>
                      <a:endParaRPr/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核心差异化</a:t>
                      </a:r>
                      <a:endParaRPr/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Jira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市场领导者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可定制性、生态丰富</a:t>
                      </a:r>
                      <a:endParaRPr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Linear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现代挑战者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用户体验、性能</a:t>
                      </a:r>
                      <a:endParaRPr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Monday.com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工作管理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易用性、可视化</a:t>
                      </a:r>
                      <a:endParaRPr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Azure DevOps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DevOps平台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微软生态集成</a:t>
                      </a:r>
                      <a:endParaRPr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Asana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项目跟踪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简洁、灵活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81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SWOT 分析 - 优劣势</a:t>
            </a:r>
            <a:endParaRPr/>
          </a:p>
        </p:txBody>
      </p:sp>
      <p:sp>
        <p:nvSpPr>
          <p:cNvPr id="82" name="TextBox 3"/>
          <p:cNvSpPr txBox="true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FF8000"/>
                </a:solidFill>
              </a:defRPr>
            </a:pPr>
            <a:r>
              <a:rPr/>
              <a:t>优势</a:t>
            </a:r>
            <a:endParaRPr/>
          </a:p>
        </p:txBody>
      </p:sp>
      <p:sp>
        <p:nvSpPr>
          <p:cNvPr id="83" name="TextBox 4"/>
          <p:cNvSpPr txBox="true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优势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Atlassian 生态系统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深度定制能力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企业级安全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市场领导地位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合作伙伴网络</a:t>
            </a:r>
            <a:endParaRPr/>
          </a:p>
        </p:txBody>
      </p:sp>
      <p:sp>
        <p:nvSpPr>
          <p:cNvPr id="84" name="TextBox 5"/>
          <p:cNvSpPr txBox="true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FF8000"/>
                </a:solidFill>
              </a:defRPr>
            </a:pPr>
            <a:r>
              <a:rPr/>
              <a:t>劣势</a:t>
            </a:r>
            <a:endParaRPr/>
          </a:p>
        </p:txBody>
      </p:sp>
      <p:sp>
        <p:nvSpPr>
          <p:cNvPr id="85" name="TextBox 6"/>
          <p:cNvSpPr txBox="true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劣势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复杂用户界面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学习曲线陡峭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价格较高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大规模性能问题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88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0052CC"/>
                </a:solidFill>
              </a:defRPr>
            </a:pPr>
            <a:r>
              <a:rPr/>
              <a:t>08</a:t>
            </a:r>
            <a:endParaRPr/>
          </a:p>
        </p:txBody>
      </p:sp>
      <p:sp>
        <p:nvSpPr>
          <p:cNvPr id="89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关键洞察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92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战略定位洞察</a:t>
            </a:r>
            <a:endParaRPr/>
          </a:p>
        </p:txBody>
      </p:sp>
      <p:sp>
        <p:nvSpPr>
          <p:cNvPr id="93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生态系统价值 &gt; 单一产品价值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Jira 的力量来自与 Confluence、Bitbucket 的集成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交叉销售驱动客户扩张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企业市场是核心护城河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竞争对手难以在大企业中替代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PLG 模式实现高效增长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低获客成本支持更高研发投入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96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成功因素与风险</a:t>
            </a:r>
            <a:endParaRPr/>
          </a:p>
        </p:txBody>
      </p:sp>
      <p:sp>
        <p:nvSpPr>
          <p:cNvPr id="97" name="TextBox 3"/>
          <p:cNvSpPr txBox="true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FF8000"/>
                </a:solidFill>
              </a:defRPr>
            </a:pPr>
            <a:r>
              <a:rPr/>
              <a:t>优势</a:t>
            </a:r>
            <a:endParaRPr/>
          </a:p>
        </p:txBody>
      </p:sp>
      <p:sp>
        <p:nvSpPr>
          <p:cNvPr id="98" name="TextBox 4"/>
          <p:cNvSpPr txBox="true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成功因素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Atlassian 生态系统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PLG 增长模式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产品组合矩阵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定价权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品牌认知度</a:t>
            </a:r>
            <a:endParaRPr/>
          </a:p>
        </p:txBody>
      </p:sp>
      <p:sp>
        <p:nvSpPr>
          <p:cNvPr id="99" name="TextBox 5"/>
          <p:cNvSpPr txBox="true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FF8000"/>
                </a:solidFill>
              </a:defRPr>
            </a:pPr>
            <a:r>
              <a:rPr/>
              <a:t>风险</a:t>
            </a:r>
            <a:endParaRPr/>
          </a:p>
        </p:txBody>
      </p:sp>
      <p:sp>
        <p:nvSpPr>
          <p:cNvPr id="100" name="TextBox 6"/>
          <p:cNvSpPr txBox="true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关键风险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用户体验导向的竞品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开源替代方案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AI 原生新玩家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企业成本敏感度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07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0052CC"/>
                </a:solidFill>
              </a:defRPr>
            </a:pPr>
            <a:r>
              <a:rPr/>
              <a:t>09</a:t>
            </a:r>
            <a:endParaRPr/>
          </a:p>
        </p:txBody>
      </p:sp>
      <p:sp>
        <p:nvSpPr>
          <p:cNvPr id="108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结论与未来展望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1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核心要点</a:t>
            </a:r>
            <a:endParaRPr/>
          </a:p>
        </p:txBody>
      </p:sp>
      <p:sp>
        <p:nvSpPr>
          <p:cNvPr id="112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~52亿美元收入 (2025估)，同比增长20%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~30万客户，4.5万+ 客户ARR&gt;$10K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成立于2002年，2010年扩张，23年持续增长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PLG 模式 + 行业领先的留存率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云转型推动 ARPU 扩张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AI 能力(Atlassian Intelligence) 成为增长新引擎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5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战略结论</a:t>
            </a:r>
            <a:endParaRPr/>
          </a:p>
        </p:txBody>
      </p:sp>
      <p:sp>
        <p:nvSpPr>
          <p:cNvPr id="116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Jira 的成功源于 Atlassian 生态系统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不仅是产品实力，更是生态粘性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竞争壁垒在于企业市场渗透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Jira 受益于现有 Atlassian 客户群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未来在于 Atlassian 生态持续扩张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  AI、云迁移、企业功能是关键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9" name="TextBox 2"/>
          <p:cNvSpPr txBox="true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true">
                <a:solidFill>
                  <a:srgbClr val="FFFFFF"/>
                </a:solidFill>
              </a:defRPr>
            </a:pPr>
            <a:r>
              <a:rPr/>
              <a:t>谢谢</a:t>
            </a:r>
            <a:endParaRPr/>
          </a:p>
        </p:txBody>
      </p:sp>
      <p:sp>
        <p:nvSpPr>
          <p:cNvPr id="120" name="TextBox 3"/>
          <p:cNvSpPr txBox="true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rPr/>
              <a:t>Jira 项目管理服务深度洞察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2026-01-23T11:04:07Z</dcterms:created>
  <dcterms:modified xsi:type="dcterms:W3CDTF">2026-01-23T11:04:07Z</dcterms:modified>
</cp:coreProperties>
</file>