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3" Type="http://schemas.openxmlformats.org/officeDocument/2006/relationships/slide" Target="slides/slide3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3" Type="http://schemas.openxmlformats.org/officeDocument/2006/relationships/tableStyles" Target="tableStyles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2" Type="http://schemas.openxmlformats.org/officeDocument/2006/relationships/slide" Target="slides/slide2.xml" /><Relationship Id="rId12" Type="http://schemas.openxmlformats.org/officeDocument/2006/relationships/slide" Target="slides/slide12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Relationship Id="rId8" Type="http://schemas.openxmlformats.org/officeDocument/2006/relationships/slide" Target="slides/slide8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3" Type="http://schemas.openxmlformats.org/officeDocument/2006/relationships/slideLayout" Target="../slideLayouts/slideLayout4.xml" /><Relationship Id="rId1" Type="http://schemas.openxmlformats.org/officeDocument/2006/relationships/slideLayout" Target="../slideLayouts/slideLayout2.xml" /><Relationship Id="rId5" Type="http://schemas.openxmlformats.org/officeDocument/2006/relationships/slideLayout" Target="../slideLayouts/slideLayout6.xml" /><Relationship Id="rId2" Type="http://schemas.openxmlformats.org/officeDocument/2006/relationships/slideLayout" Target="../slideLayouts/slideLayout3.xml" /><Relationship Id="rId11" Type="http://schemas.openxmlformats.org/officeDocument/2006/relationships/theme" Target="../theme/theme1.xml" /><Relationship Id="rId4" Type="http://schemas.openxmlformats.org/officeDocument/2006/relationships/slideLayout" Target="../slideLayouts/slideLayout5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Relationship Id="rId9" Type="http://schemas.openxmlformats.org/officeDocument/2006/relationships/slideLayout" Target="../slideLayouts/slideLayout10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" name="TextBox 2"/>
          <p:cNvSpPr txBox="true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true">
                <a:solidFill>
                  <a:srgbClr val="FFFFFF"/>
                </a:solidFill>
              </a:defRPr>
            </a:pPr>
            <a:r>
              <a:rPr/>
              <a:t>抖音短剧小程序洞察报告</a:t>
            </a:r>
            <a:endParaRPr/>
          </a:p>
        </p:txBody>
      </p:sp>
      <p:sp>
        <p:nvSpPr>
          <p:cNvPr id="4" name="TextBox 3"/>
          <p:cNvSpPr txBox="true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rPr/>
              <a:t>2025年行业深度分析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9" name="TextBox 2"/>
          <p:cNvSpPr txBox="true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true">
                <a:solidFill>
                  <a:srgbClr val="262626"/>
                </a:solidFill>
              </a:defRPr>
            </a:pPr>
            <a:r>
              <a:rPr/>
              <a:t>执行摘要</a:t>
            </a:r>
            <a:endParaRPr/>
          </a:p>
        </p:txBody>
      </p:sp>
      <p:sp>
        <p:nvSpPr>
          <p:cNvPr id="20" name="TextBox 3"/>
          <p:cNvSpPr txBox="true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/>
                </a:solidFill>
              </a:defRPr>
            </a:pPr>
            <a:r>
              <a:rPr/>
              <a:t>📊 2025年微短剧行业全年产值接近900亿元，远超市场预期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/>
                </a:solidFill>
              </a:defRPr>
            </a:pPr>
            <a:r>
              <a:rPr/>
              <a:t>💰 变现模式：IAA广告变现占71%，IAP内购付费占26%，混合模式占3%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/>
                </a:solidFill>
              </a:defRPr>
            </a:pPr>
            <a:r>
              <a:rPr/>
              <a:t>📈 抖音端原生2024年上线短剧突破2万部，'金枝看剧'小程序月活2238万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/>
                </a:solidFill>
              </a:defRPr>
            </a:pPr>
            <a:r>
              <a:rPr/>
              <a:t>🎯 用户留存采用40-20-10规则，通过优质内容+数据驱动+用户体验三位一体运营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/>
                </a:solidFill>
              </a:defRPr>
            </a:pPr>
            <a:r>
              <a:rPr/>
              <a:t>🚀 新趋势：短剧带货成为双11新战场，免费观看+电商变现成为新路径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3" name="TextBox 2"/>
          <p:cNvSpPr txBox="true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true">
                <a:solidFill>
                  <a:srgbClr val="262626"/>
                </a:solidFill>
              </a:defRPr>
            </a:pPr>
            <a:r>
              <a:rPr/>
              <a:t>市场规模</a:t>
            </a:r>
            <a:endParaRPr/>
          </a:p>
        </p:txBody>
      </p:sp>
      <p:sp>
        <p:nvSpPr>
          <p:cNvPr id="24" name="TextBox 3"/>
          <p:cNvSpPr txBox="true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true">
                <a:solidFill>
                  <a:srgbClr val="DC3545"/>
                </a:solidFill>
              </a:defRPr>
            </a:pPr>
            <a:r>
              <a:rPr/>
              <a:t>~900亿元</a:t>
            </a:r>
            <a:endParaRPr/>
          </a:p>
        </p:txBody>
      </p:sp>
      <p:sp>
        <p:nvSpPr>
          <p:cNvPr id="25" name="TextBox 4"/>
          <p:cNvSpPr txBox="true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98DB"/>
                </a:solidFill>
              </a:defRPr>
            </a:pPr>
            <a:r>
              <a:rPr/>
              <a:t>2025年微短剧行业产值</a:t>
            </a:r>
            <a:endParaRPr/>
          </a:p>
        </p:txBody>
      </p:sp>
      <p:sp>
        <p:nvSpPr>
          <p:cNvPr id="26" name="TextBox 5"/>
          <p:cNvSpPr txBox="true"/>
          <p:nvPr/>
        </p:nvSpPr>
        <p:spPr>
          <a:xfrm>
            <a:off x="914400" y="420624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62626"/>
                </a:solidFill>
              </a:defRPr>
            </a:pPr>
            <a:r>
              <a:rPr/>
              <a:t>行业呈现爆发式增长，较2023年的预估600亿元增长50%以上。小程序短剧在2023年8月前市场规模已超40亿元，抖音金枝看剧小程序单月活突破2238万。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9" name="TextBox 2"/>
          <p:cNvSpPr txBox="true"/>
          <p:nvPr/>
        </p:nvSpPr>
        <p:spPr>
          <a:xfrm rot="0" flipH="false" flipV="false">
            <a:off x="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true">
                <a:solidFill>
                  <a:srgbClr val="262626"/>
                </a:solidFill>
              </a:defRPr>
            </a:pPr>
            <a:r>
              <a:rPr/>
              <a:t>商业模式：三大变现路径</a:t>
            </a:r>
            <a:endParaRPr/>
          </a:p>
        </p:txBody>
      </p:sp>
      <p:sp>
        <p:nvSpPr>
          <p:cNvPr id="30" name="TextBox 3"/>
          <p:cNvSpPr txBox="true"/>
          <p:nvPr/>
        </p:nvSpPr>
        <p:spPr>
          <a:xfrm rot="0" flipH="false" flipV="false">
            <a:off x="180975" y="1115777"/>
            <a:ext cx="7867650" cy="488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📱</a:t>
            </a:r>
            <a:r>
              <a:rPr/>
              <a:t> IAA</a:t>
            </a:r>
            <a:r>
              <a:rPr/>
              <a:t>广告变现（占比</a:t>
            </a:r>
            <a:r>
              <a:rPr/>
              <a:t>71%</a:t>
            </a:r>
            <a:r>
              <a:rPr/>
              <a:t>）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在短剧播放前或播放中插入广告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用户通过观看广告免费解锁内容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广告主支付费用，平台获得广告分成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💳</a:t>
            </a:r>
            <a:r>
              <a:rPr/>
              <a:t> IAP</a:t>
            </a:r>
            <a:r>
              <a:rPr/>
              <a:t>内购付费（占比</a:t>
            </a:r>
            <a:r>
              <a:rPr/>
              <a:t>26%</a:t>
            </a:r>
            <a:r>
              <a:rPr/>
              <a:t>）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按集付费：每集定价</a:t>
            </a:r>
            <a:r>
              <a:rPr/>
              <a:t>1-1.9</a:t>
            </a:r>
            <a:r>
              <a:rPr/>
              <a:t>元，需充值购买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会员订阅：提供无广告、高清画质等特权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抖音分成：首单合作方获</a:t>
            </a:r>
            <a:r>
              <a:rPr/>
              <a:t>50%</a:t>
            </a:r>
            <a:r>
              <a:rPr/>
              <a:t>，非首单获</a:t>
            </a:r>
            <a:r>
              <a:rPr/>
              <a:t>30%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🔄</a:t>
            </a:r>
            <a:r>
              <a:rPr/>
              <a:t> IAAP</a:t>
            </a:r>
            <a:r>
              <a:rPr/>
              <a:t>混合模式（占比</a:t>
            </a:r>
            <a:r>
              <a:rPr/>
              <a:t>3%</a:t>
            </a:r>
            <a:r>
              <a:rPr/>
              <a:t>）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广告</a:t>
            </a:r>
            <a:r>
              <a:rPr/>
              <a:t>+</a:t>
            </a:r>
            <a:r>
              <a:rPr/>
              <a:t>内购组合，平衡用户体验与收益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3" name="TextBox 2"/>
          <p:cNvSpPr txBox="true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true">
                <a:solidFill>
                  <a:srgbClr val="262626"/>
                </a:solidFill>
              </a:defRPr>
            </a:pPr>
            <a:r>
              <a:rPr/>
              <a:t>抖音平台分成机制</a:t>
            </a:r>
            <a:endParaRPr/>
          </a:p>
        </p:txBody>
      </p:sp>
      <p:sp>
        <p:nvSpPr>
          <p:cNvPr id="34" name="TextBox 3"/>
          <p:cNvSpPr txBox="true"/>
          <p:nvPr/>
        </p:nvSpPr>
        <p:spPr>
          <a:xfrm>
            <a:off x="457200" y="164592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📊 首单分成</a:t>
            </a: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• 合作方获得50%</a:t>
            </a: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• 用户首次充值时</a:t>
            </a: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• 高激励促进推广</a:t>
            </a: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📊 非首单分成</a:t>
            </a: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• 合作方获得30%</a:t>
            </a: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• 用户复购时</a:t>
            </a: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• 平台获得更高收益</a:t>
            </a:r>
            <a:endParaRPr/>
          </a:p>
        </p:txBody>
      </p:sp>
      <p:sp>
        <p:nvSpPr>
          <p:cNvPr id="35" name="TextBox 4"/>
          <p:cNvSpPr txBox="true"/>
          <p:nvPr/>
        </p:nvSpPr>
        <p:spPr>
          <a:xfrm>
            <a:off x="4754880" y="164592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🎬 内容生态</a:t>
            </a: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• 2024年上线短剧超2万部</a:t>
            </a: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• 支持端原生+小程序双模式</a:t>
            </a: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• 抖微互通扩大分发</a:t>
            </a: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📈 用户数据</a:t>
            </a: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• 金枝看剧月活2238万</a:t>
            </a: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• 付费率连续2季度翻倍</a:t>
            </a: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• 30日付费留存翻倍</a:t>
            </a:r>
            <a:endParaRPr/>
          </a:p>
        </p:txBody>
      </p:sp>
      <p:sp>
        <p:nvSpPr>
          <p:cNvPr id="36" name="Rectangle 5"/>
          <p:cNvSpPr/>
          <p:nvPr/>
        </p:nvSpPr>
        <p:spPr>
          <a:xfrm>
            <a:off x="4480560" y="1645920"/>
            <a:ext cx="45720" cy="47548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9" name="TextBox 2"/>
          <p:cNvSpPr txBox="true"/>
          <p:nvPr/>
        </p:nvSpPr>
        <p:spPr>
          <a:xfrm rot="0" flipH="false" flipV="false">
            <a:off x="914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true">
                <a:solidFill>
                  <a:srgbClr val="262626"/>
                </a:solidFill>
              </a:defRPr>
            </a:pPr>
            <a:r>
              <a:rPr/>
              <a:t>用户画像分析</a:t>
            </a:r>
            <a:endParaRPr/>
          </a:p>
        </p:txBody>
      </p:sp>
      <p:sp>
        <p:nvSpPr>
          <p:cNvPr id="40" name="TextBox 3"/>
          <p:cNvSpPr txBox="true"/>
          <p:nvPr/>
        </p:nvSpPr>
        <p:spPr>
          <a:xfrm rot="0" flipH="false" flipV="false">
            <a:off x="274320" y="914400"/>
            <a:ext cx="7800524" cy="5899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👥</a:t>
            </a:r>
            <a:r>
              <a:rPr/>
              <a:t> </a:t>
            </a:r>
            <a:r>
              <a:rPr/>
              <a:t>付费用户规模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单部热门短剧付费用户可超过</a:t>
            </a:r>
            <a:r>
              <a:rPr/>
              <a:t>10</a:t>
            </a:r>
            <a:r>
              <a:rPr/>
              <a:t>万人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付费用户与免费用户画像不完全重合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🎯</a:t>
            </a:r>
            <a:r>
              <a:rPr/>
              <a:t> </a:t>
            </a:r>
            <a:r>
              <a:rPr/>
              <a:t>用户分层漏斗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触达层：抖音公域流量曝光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跳转层：点击进入小程序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观看层：继续观看内容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付费层：充值解锁剧集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💎</a:t>
            </a:r>
            <a:r>
              <a:rPr/>
              <a:t> </a:t>
            </a:r>
            <a:r>
              <a:rPr/>
              <a:t>用户特征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具有追更粘性，愿意为优质内容付费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对剧情反转和冲突设计敏感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习惯短视频碎片化消费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43" name="TextBox 2"/>
          <p:cNvSpPr txBox="true"/>
          <p:nvPr/>
        </p:nvSpPr>
        <p:spPr>
          <a:xfrm rot="0" flipH="false" flipV="false">
            <a:off x="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true">
                <a:solidFill>
                  <a:srgbClr val="262626"/>
                </a:solidFill>
              </a:defRPr>
            </a:pPr>
            <a:r>
              <a:rPr/>
              <a:t>销售方式与获客策略</a:t>
            </a:r>
            <a:endParaRPr/>
          </a:p>
        </p:txBody>
      </p:sp>
      <p:sp>
        <p:nvSpPr>
          <p:cNvPr id="44" name="TextBox 3"/>
          <p:cNvSpPr txBox="true"/>
          <p:nvPr/>
        </p:nvSpPr>
        <p:spPr>
          <a:xfrm rot="0" flipH="false" flipV="false">
            <a:off x="182880" y="1005840"/>
            <a:ext cx="7867650" cy="5899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🎬</a:t>
            </a:r>
            <a:r>
              <a:rPr/>
              <a:t> </a:t>
            </a:r>
            <a:r>
              <a:rPr/>
              <a:t>内容引流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抖音视频账号作为引流载体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发布精彩片段吸引用户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完整内容承载于小程序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📢</a:t>
            </a:r>
            <a:r>
              <a:rPr/>
              <a:t> </a:t>
            </a:r>
            <a:r>
              <a:rPr/>
              <a:t>投流推广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主要成本消耗在广告投放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C2M</a:t>
            </a:r>
            <a:r>
              <a:rPr/>
              <a:t>模式：以销定产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投流数据反馈至生产环节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🎁</a:t>
            </a:r>
            <a:r>
              <a:rPr/>
              <a:t> </a:t>
            </a:r>
            <a:r>
              <a:rPr/>
              <a:t>转化策略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先免费观看精彩片段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在剧情高潮处设置卡点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引导充值解锁后续内容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47" name="TextBox 2"/>
          <p:cNvSpPr txBox="true"/>
          <p:nvPr/>
        </p:nvSpPr>
        <p:spPr>
          <a:xfrm rot="0" flipH="false" flipV="false">
            <a:off x="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true">
                <a:solidFill>
                  <a:srgbClr val="262626"/>
                </a:solidFill>
              </a:defRPr>
            </a:pPr>
            <a:r>
              <a:rPr/>
              <a:t>用户留存机制</a:t>
            </a:r>
            <a:endParaRPr/>
          </a:p>
        </p:txBody>
      </p:sp>
      <p:sp>
        <p:nvSpPr>
          <p:cNvPr id="48" name="TextBox 3"/>
          <p:cNvSpPr txBox="true"/>
          <p:nvPr/>
        </p:nvSpPr>
        <p:spPr>
          <a:xfrm rot="0" flipH="false" flipV="false">
            <a:off x="0" y="836534"/>
            <a:ext cx="7867650" cy="5899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📏</a:t>
            </a:r>
            <a:r>
              <a:rPr/>
              <a:t> </a:t>
            </a:r>
            <a:r>
              <a:rPr/>
              <a:t>字节跳动</a:t>
            </a:r>
            <a:r>
              <a:rPr/>
              <a:t>40-20-10</a:t>
            </a:r>
            <a:r>
              <a:rPr/>
              <a:t>留存率规则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产品推向市场后的留存率标准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作为内容分发的重要参考指标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短剧小程序需通过优质内容达到门槛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🔄</a:t>
            </a:r>
            <a:r>
              <a:rPr/>
              <a:t> </a:t>
            </a:r>
            <a:r>
              <a:rPr/>
              <a:t>用户召回与培养体系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用户培养：将新增用户逐步培养成忠实用户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用户召回：通过平台能力实现老用户回流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分阶段运营：每个用户都需要漫长培养阶段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⏱️ </a:t>
            </a:r>
            <a:r>
              <a:rPr/>
              <a:t>停留时长提升策略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非转化目的停留玩法：定时抽奖等活动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社交引导：分享小程序页面或点赞直播间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激励机制：互动行为获得抽奖机会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51" name="TextBox 2"/>
          <p:cNvSpPr txBox="true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true">
                <a:solidFill>
                  <a:srgbClr val="262626"/>
                </a:solidFill>
              </a:defRPr>
            </a:pPr>
            <a:r>
              <a:rPr/>
              <a:t>精细化运营策略</a:t>
            </a:r>
            <a:endParaRPr/>
          </a:p>
        </p:txBody>
      </p:sp>
      <p:sp>
        <p:nvSpPr>
          <p:cNvPr id="52" name="TextBox 3"/>
          <p:cNvSpPr txBox="true"/>
          <p:nvPr/>
        </p:nvSpPr>
        <p:spPr>
          <a:xfrm>
            <a:off x="457200" y="164592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🎬 C2M模式</a:t>
            </a: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• 以销定产</a:t>
            </a: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• 投流数据反馈生产</a:t>
            </a: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• 快速迭代内容</a:t>
            </a: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💰 内容付费机制</a:t>
            </a: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• IAP充值虚拟货币</a:t>
            </a: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• 会员订阅制</a:t>
            </a: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• 免费片段+付费解锁</a:t>
            </a:r>
            <a:endParaRPr/>
          </a:p>
        </p:txBody>
      </p:sp>
      <p:sp>
        <p:nvSpPr>
          <p:cNvPr id="53" name="TextBox 4"/>
          <p:cNvSpPr txBox="true"/>
          <p:nvPr/>
        </p:nvSpPr>
        <p:spPr>
          <a:xfrm>
            <a:off x="4754880" y="164592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📊 数据驱动</a:t>
            </a: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• 利用投流数据优化</a:t>
            </a: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• 分析用户行为路径</a:t>
            </a: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• A/B测试不同策略</a:t>
            </a: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🎯 精细化运营</a:t>
            </a: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• 从粗放式转向体验导向</a:t>
            </a: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• 不只关注单剧短期收益</a:t>
            </a: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62626"/>
                </a:solidFill>
              </a:defRPr>
            </a:pPr>
            <a:r>
              <a:rPr/>
              <a:t>• 设计活动提升整体留存</a:t>
            </a:r>
            <a:endParaRPr/>
          </a:p>
        </p:txBody>
      </p:sp>
      <p:sp>
        <p:nvSpPr>
          <p:cNvPr id="54" name="Rectangle 5"/>
          <p:cNvSpPr/>
          <p:nvPr/>
        </p:nvSpPr>
        <p:spPr>
          <a:xfrm>
            <a:off x="4480560" y="1645920"/>
            <a:ext cx="45720" cy="47548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7" name="TextBox 2"/>
          <p:cNvSpPr txBox="true"/>
          <p:nvPr/>
        </p:nvSpPr>
        <p:spPr>
          <a:xfrm rot="0" flipH="false" flipV="false">
            <a:off x="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true">
                <a:solidFill>
                  <a:srgbClr val="262626"/>
                </a:solidFill>
              </a:defRPr>
            </a:pPr>
            <a:r>
              <a:rPr/>
              <a:t>2025年行业发展趋势</a:t>
            </a:r>
            <a:endParaRPr/>
          </a:p>
        </p:txBody>
      </p:sp>
      <p:sp>
        <p:nvSpPr>
          <p:cNvPr id="8" name="TextBox 3"/>
          <p:cNvSpPr txBox="true"/>
          <p:nvPr/>
        </p:nvSpPr>
        <p:spPr>
          <a:xfrm rot="0" flipH="false" flipV="false">
            <a:off x="182880" y="1005840"/>
            <a:ext cx="7867650" cy="540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🆕</a:t>
            </a:r>
            <a:r>
              <a:rPr/>
              <a:t> </a:t>
            </a:r>
            <a:r>
              <a:rPr/>
              <a:t>免费模式成为主流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IAA</a:t>
            </a:r>
            <a:r>
              <a:rPr/>
              <a:t>广告变现占据主导地位（</a:t>
            </a:r>
            <a:r>
              <a:rPr/>
              <a:t>71%</a:t>
            </a:r>
            <a:r>
              <a:rPr/>
              <a:t>）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红果短剧等平台主打免费观看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🛒</a:t>
            </a:r>
            <a:r>
              <a:rPr/>
              <a:t> </a:t>
            </a:r>
            <a:r>
              <a:rPr/>
              <a:t>短剧</a:t>
            </a:r>
            <a:r>
              <a:rPr/>
              <a:t>+</a:t>
            </a:r>
            <a:r>
              <a:rPr/>
              <a:t>电商成为新赛道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短剧带货成为双</a:t>
            </a:r>
            <a:r>
              <a:rPr/>
              <a:t>11</a:t>
            </a:r>
            <a:r>
              <a:rPr/>
              <a:t>新战场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红果短剧探索商品链接带货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流量积累后围绕电商与广告变现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🌐</a:t>
            </a:r>
            <a:r>
              <a:rPr/>
              <a:t> </a:t>
            </a:r>
            <a:r>
              <a:rPr/>
              <a:t>平台生态重构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抖微拆墙互通，多平台协同运营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长短内容商业模式博弈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从单一付费解锁向多元化变现演进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1" name="TextBox 2"/>
          <p:cNvSpPr txBox="true"/>
          <p:nvPr/>
        </p:nvSpPr>
        <p:spPr>
          <a:xfrm rot="0" flipH="false" flipV="false">
            <a:off x="188698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true">
                <a:solidFill>
                  <a:srgbClr val="262626"/>
                </a:solidFill>
              </a:defRPr>
            </a:pPr>
            <a:r>
              <a:rPr/>
              <a:t>核心成功要素</a:t>
            </a:r>
            <a:endParaRPr/>
          </a:p>
        </p:txBody>
      </p:sp>
      <p:sp>
        <p:nvSpPr>
          <p:cNvPr id="12" name="TextBox 3"/>
          <p:cNvSpPr txBox="true"/>
          <p:nvPr/>
        </p:nvSpPr>
        <p:spPr>
          <a:xfrm rot="0" flipH="false" flipV="false">
            <a:off x="88010" y="1005840"/>
            <a:ext cx="7867650" cy="5899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📖</a:t>
            </a:r>
            <a:r>
              <a:rPr/>
              <a:t> </a:t>
            </a:r>
            <a:r>
              <a:rPr/>
              <a:t>内容质量是根本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剧情反转与冲突设计，拉动用户情绪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高频爽点设置，每集都有高潮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符合用户碎片化消费习惯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🎯</a:t>
            </a:r>
            <a:r>
              <a:rPr/>
              <a:t> </a:t>
            </a:r>
            <a:r>
              <a:rPr/>
              <a:t>用户体验是关键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平衡付费机制与免费内容比例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优化加载速度和播放体验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减少用户付费摩擦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📊</a:t>
            </a:r>
            <a:r>
              <a:rPr/>
              <a:t> </a:t>
            </a:r>
            <a:r>
              <a:rPr/>
              <a:t>数据驱动是引擎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实时分析投流效果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快速调整内容策略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/>
              <a:t>   • </a:t>
            </a:r>
            <a:r>
              <a:rPr/>
              <a:t>精准定位目标用户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5" name="TextBox 2"/>
          <p:cNvSpPr txBox="true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true">
                <a:solidFill>
                  <a:srgbClr val="262626"/>
                </a:solidFill>
              </a:defRPr>
            </a:pPr>
            <a:r>
              <a:rPr/>
              <a:t>洞察总结</a:t>
            </a:r>
            <a:endParaRPr/>
          </a:p>
        </p:txBody>
      </p:sp>
      <p:sp>
        <p:nvSpPr>
          <p:cNvPr id="16" name="TextBox 3"/>
          <p:cNvSpPr txBox="true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/>
                </a:solidFill>
              </a:defRPr>
            </a:pPr>
            <a:r>
              <a:rPr/>
              <a:t>✅ 抖音短剧小程序已形成成熟商业闭环，市场规模接近900亿元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/>
                </a:solidFill>
              </a:defRPr>
            </a:pPr>
            <a:r>
              <a:rPr/>
              <a:t>✅ 变现模式以IAA广告为主，IAP内购为辅，短剧带货是新增长点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/>
                </a:solidFill>
              </a:defRPr>
            </a:pPr>
            <a:r>
              <a:rPr/>
              <a:t>✅ 用户画像清晰：追更粘性强，愿意为优质内容付费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/>
                </a:solidFill>
              </a:defRPr>
            </a:pPr>
            <a:r>
              <a:rPr/>
              <a:t>✅ 留存机制采用40-20-10规则，通过内容+数据+体验三位一体运营</a:t>
            </a: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262626"/>
                </a:solidFill>
              </a:defRPr>
            </a:pPr>
            <a:r>
              <a:rPr/>
              <a:t>✅ 2025年趋势：免费模式+电商变现，平台生态重构与多元化演进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2026-01-14T11:21:45Z</dcterms:created>
  <dcterms:modified xsi:type="dcterms:W3CDTF">2026-01-14T11:21:45Z</dcterms:modified>
</cp:coreProperties>
</file>