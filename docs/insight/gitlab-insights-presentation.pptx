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282C34"/>
                </a:solidFill>
              </a:defRPr>
            </a:pPr>
            <a:r>
              <a:t>GitLab 深度洞察报告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6B7181"/>
                </a:solidFill>
              </a:defRPr>
            </a:pPr>
            <a:r>
              <a:t>Business Insights &amp; Strategic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C6D26"/>
                </a:solidFill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C34"/>
                </a:solidFill>
              </a:defRPr>
            </a:pPr>
            <a: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C6D26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C34"/>
                </a:solidFill>
              </a:defRPr>
            </a:pPr>
            <a:r>
              <a:t>公司概览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基本信息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成立时间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2011年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创始人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Dmitriy Zaporozhets &amp; Sytse Sijbrandij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总部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旧金山，美国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核心产品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一体化 DevSecOps 平台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上市状态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NASDAQ: GTLB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市场定位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总可寻址市场 (TAM): 400亿美元 DevOps 市场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核心价值主张: 单一应用覆盖完整软件开发生命周期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独特定位: 唯一基于统一数据存储构建的 DevSecOps 平台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发展历程: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2011: 项目启动 | 2014: 成立公司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2015: 推出企业版 | 2021: NASDAQ 上市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2025: ARR 达到 $759M+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C6D26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C34"/>
                </a:solidFill>
              </a:defRPr>
            </a:pPr>
            <a:r>
              <a:t>商业模式分析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核心收入模式 - SaaS 订阅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Self-Managed (自托管) 订阅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GitLab.com 云托管订阅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分层服务计划: Free / Premium / Ultimate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FY2025 财务表现: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年度收入: $759.2M (+31% YoY)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FY2026 预测: $936-942M (23-24% 增长)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运营利润率持续扩张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产品定价策略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目标用户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核心价值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个人开发者、小团队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基础 Git 管理、CI/CD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成长型团队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高级项目管理、安全扫描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Ultimate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大型企业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完整 DevSecOps、合规、支持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商业模式核心优势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1. 开源飞轮效应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开源版本吸引开发者 → 免费用户转化为付费用户 → 社区贡献改进产品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2. 平台化策略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单一平台替代多个工具 → 降低客户总拥有成本 → 提高切换成本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3. AI 驱动的增值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AI 功能解锁 $750B+ 客户价值 → 差异化竞争优势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C6D26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C34"/>
                </a:solidFill>
              </a:defRPr>
            </a:pPr>
            <a:r>
              <a:t>技术架构解析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核心技术组件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前端: Ruby on Rails + Vue.js 单页应用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后端: Ruby, Go | 数据库: PostgreSQL, Redis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CI/CD: GitLab CI (支持 Docker、Kubernetes、VirtualBox)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安全: SAST、DAST、依赖扫描、容器扫描、许可证合规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部署架构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部署方式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SaaS (GitLab.com)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快速启动、降低运维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零运维、自动更新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Self-Managed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数据主权、定制需求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完全控制、合规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Dedicated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高安全、高性能要求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专属资源、SLA 保障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技术创新亮点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1. 统一数据模型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打破工具孤岛 | 端到端可追溯性 | 数据驱动决策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2. Kubernetes 原生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完整 K8s 集成 | Auto DevOps 功能 | GitOps 实践支持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3. AI 能力集成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代码建议与生成 | 智能漏洞检测 | 工作流优化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C6D26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C34"/>
                </a:solidFill>
              </a:defRPr>
            </a:pPr>
            <a:r>
              <a:t>销售与市场策略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双飞轮策略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C6D26"/>
                </a:solidFill>
              </a:defRPr>
            </a:pPr>
            <a:r>
              <a:t>开源核心飞轮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1. 开源版本吸引用户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2. 社区贡献改进产品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3. 产品体验提升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4. 更多用户加入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C6D26"/>
                </a:solidFill>
              </a:defRPr>
            </a:pPr>
            <a:r>
              <a:t>开发飞轮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1. 透明的路线图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2. 社区反馈循环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3. 快速迭代发布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4. 开发者忠诚度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企业销售策略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自下而上的采用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开发者主导的工具选择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PLG (Product-Led Growth) 模式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从小团队到大企业的自然扩展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企业级能力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3,000+ 社区贡献者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企业级安全与合规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7x24 技术支持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合作伙伴生态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合作伙伴类型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合作方式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价值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云服务商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AWS, Azure, GCP 集成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多云部署选择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技术伙伴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JetBrains, SonarQube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工作流集成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系统集成商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Deloitte, Accenture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企业级实施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区域合作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极狐(GitLab JH)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本地化服务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C6D26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C34"/>
                </a:solidFill>
              </a:defRPr>
            </a:pPr>
            <a:r>
              <a:t>用户画像分析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行业分布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行业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典型客户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核心需求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金融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BlackRock, Nasdaq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合规、安全、审计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Nvidia, Siemens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创新、速度、规模化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制造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Bosch, Ford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DevOps、质量、效率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零售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Instacart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快速迭代、稳定性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医疗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Philips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数据隐私、合规性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企业客户分层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超大型企业 (&gt;10,000人)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$1M+ ARR 客户: 96家 (+52% YoY)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核心诉求: 全球协作、统一标准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大型企业 (1,000-10,000人)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$100K+ ARR 客户显著增长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核心诉求: DevOps 转型、效率提升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中型企业 (100-1,000人): 快速增长主力，诉求自动化、敏捷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小型团队 (&lt;100人): 从免费版起步，诉求易用性、低成本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关键决策者画像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C6D26"/>
                </a:solidFill>
              </a:defRPr>
            </a:pPr>
            <a:r>
              <a:t>CTO / 技术副总裁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关注: 技术架构、开发效率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痛点: 工具碎片化、集成复杂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决策: ROI、安全、合规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C6D26"/>
                </a:solidFill>
              </a:defRPr>
            </a:pPr>
            <a:r>
              <a:t>DevOps 负责人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关注: CI/CD、部署自动化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痛点: 流程繁琐、环境管理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决策: 功能完整性、易用性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C6D26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C34"/>
                </a:solidFill>
              </a:defRPr>
            </a:pPr>
            <a:r>
              <a:t>留存机制研究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核心留存指标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C6D26"/>
                </a:solidFill>
              </a:defRPr>
            </a:pPr>
            <a:r>
              <a:t>$759M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C34"/>
                </a:solidFill>
              </a:defRPr>
            </a:pPr>
            <a:r>
              <a:t>年度收入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FY2025 +31% YoY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C6D26"/>
                </a:solidFill>
              </a:defRPr>
            </a:pPr>
            <a:r>
              <a:t>123-130%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C34"/>
                </a:solidFill>
              </a:defRPr>
            </a:pPr>
            <a:r>
              <a:t>DBNRR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净收入留存率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C6D26"/>
                </a:solidFill>
              </a:defRPr>
            </a:pPr>
            <a: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C34"/>
                </a:solidFill>
              </a:defRPr>
            </a:pPr>
            <a:r>
              <a:t>客户留存率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客户留存率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C6D26"/>
                </a:solidFill>
              </a:defRPr>
            </a:pPr>
            <a:r>
              <a:t>96家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C34"/>
                </a:solidFill>
              </a:defRPr>
            </a:pPr>
            <a:r>
              <a:t>大客户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$1M+ ARR +52% YoY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留存机制设计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1. 网络效应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开源社区贡献 | 知识分享与学习 | 第三方集成生态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2. 数据积累效应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历史代码与 CI/CD 记录 | 项目数据沉淀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3. 工作流嵌入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深度集成开发流程 | 团队协作习惯养成 | 工具链依赖建立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客户增长路径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Free Team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↓ (团队规模扩大)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Premium (付费转化)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↓ (功能需求升级)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Ultimate (企业级需求)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↓ (跨部门推广)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企业级部署 (更多用户、更多项目)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C6D26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C34"/>
                </a:solidFill>
              </a:defRPr>
            </a:pPr>
            <a:r>
              <a:t>竞争格局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主要竞争对手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竞争对手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市场定位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劣势</a:t>
                      </a:r>
                    </a:p>
                  </a:txBody>
                  <a:tcPr>
                    <a:solidFill>
                      <a:srgbClr val="FC6D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GitHub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代码托管平台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最大开发者社区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DevOps 能力相对弱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Jenkins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CI/CD 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老牌、插件丰富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维护复杂、非一体化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Jira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项目管理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强大的项目管理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缺少代码托管与 CI/CD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Bitbucket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Atlassian 生态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Jira 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市场份额较小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CircleCI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CI/CD 专用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CI/CD 专业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C34"/>
                          </a:solidFill>
                        </a:defRPr>
                      </a:pPr>
                      <a:r>
                        <a:t>功能单一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GitLab 独特优势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1. 一体化平台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唯一真正的 All-in-One DevSecOps | 统一数据模型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2. 开源 + 商业双轮驱动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3,000+ 贡献者 | 透明的开发流程 | 社区信任度高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3. 灵活的部署选项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SaaS、自托管、专属部署 | 满足不同合规需求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4. DevSecOps 先发优势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安全原生集成 | 完整的合规能力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C6D26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C34"/>
                </a:solidFill>
              </a:defRPr>
            </a:pPr>
            <a:r>
              <a:t>关键洞察与启示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开源商业化成功范式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1. 开源积累用户基础 → 免费版本 = 营销渠道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2. 社区驱动产品改进 → 3,000+ 贡献者 = 分布式研发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3. 付费版本提供企业价值 → 安全、合规、支持 = 付费理由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4. 留存通过产品粘性实现 → 工作流嵌入 = 高切换成本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关键成功因素: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✅ 开源版本无使用限制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✅ 清晰的免费/付费界限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✅ 企业级功能差异化明显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✅ 社区运营与透明度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增长策略洞察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C6D26"/>
                </a:solidFill>
              </a:defRPr>
            </a:pPr>
            <a:r>
              <a:t>PLG 增长飞轮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1. 开发者试用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2. 团队采用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3. 部门推广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4. 企业采购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5. 持续扩展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C6D26"/>
                </a:solidFill>
              </a:defRPr>
            </a:pPr>
            <a:r>
              <a:t>关键策略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产品自服务能力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低门槛开始使用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网络效应驱动增长</a:t>
            </a:r>
          </a:p>
          <a:p>
            <a:pPr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从下而上的销售模式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高留存的秘密武器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1. 开源社区锁定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开发者技能投资 | 开源资产积累 | 社区归属感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2. 工作流深度嵌入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成为团队日常工作平台 | 协作习惯养成 | 切换成本极高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3. 数据资产积累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历史代码与记录 | CI/CD 流程数据 | 项目知识沉淀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C6D26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C34"/>
                </a:solidFill>
              </a:defRPr>
            </a:pPr>
            <a:r>
              <a:t>总结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关键数据一览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C6D26"/>
                </a:solidFill>
              </a:defRPr>
            </a:pPr>
            <a:r>
              <a:t>$759M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C34"/>
                </a:solidFill>
              </a:defRPr>
            </a:pPr>
            <a:r>
              <a:t>年收入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规模化商业成功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C6D26"/>
                </a:solidFill>
              </a:defRPr>
            </a:pPr>
            <a:r>
              <a:t>31%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C34"/>
                </a:solidFill>
              </a:defRPr>
            </a:pPr>
            <a:r>
              <a:t>增长率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持续高增长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C6D26"/>
                </a:solidFill>
              </a:defRPr>
            </a:pPr>
            <a:r>
              <a:t>123-130%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C34"/>
                </a:solidFill>
              </a:defRPr>
            </a:pPr>
            <a:r>
              <a:t>DBNRR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强大的客户扩展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C6D26"/>
                </a:solidFill>
              </a:defRPr>
            </a:pPr>
            <a:r>
              <a:t>3,000+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C34"/>
                </a:solidFill>
              </a:defRPr>
            </a:pPr>
            <a:r>
              <a:t>贡献者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活跃的开源社区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C6D26"/>
                </a:solidFill>
              </a:defRPr>
            </a:pPr>
            <a:r>
              <a:t>3,600+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C34"/>
                </a:solidFill>
              </a:defRPr>
            </a:pPr>
            <a:r>
              <a:t>企业客户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0352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广泛的企业采用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38912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6B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480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C6D26"/>
                </a:solidFill>
              </a:defRPr>
            </a:pPr>
            <a:r>
              <a:t>52% YoY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074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C34"/>
                </a:solidFill>
              </a:defRPr>
            </a:pPr>
            <a:r>
              <a:t>大客户增长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30352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客单价持续提升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核心成功要素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GitLab 成功金字塔: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   产品创新 (一体化 DevSecOps 平台)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         ↓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   社区驱动 (3,000+ 贡献者)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         ↓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   开源商业模式 (免费+付费双轮)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         ↓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82C34"/>
                </a:solidFill>
              </a:defRPr>
            </a:pPr>
            <a:r>
              <a:t>        PLG 增长 (自下而上采用)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C34"/>
                </a:solidFill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机遇: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• DevSecOps 市场持续增长 (400亿美元 TAM)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• AI 驱动的开发工具革命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• 开源软件商业化成熟度提升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挑战: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• GitHub Actions 的激烈竞争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• 市场教育成本仍然较高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  • 盈利能力与增长的平衡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82C34"/>
                </a:solidFill>
              </a:defRPr>
            </a:pPr>
            <a:r>
              <a:t>判断: GitLab 有望成为 DevSecOps 领域的领导者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C6D26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3200">
                <a:solidFill>
                  <a:srgbClr val="6B7181"/>
                </a:solidFill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181"/>
                </a:solidFill>
              </a:defRPr>
            </a:pPr>
            <a:r>
              <a:t>数据来源: GitLab 官方财报、行业分析报告、公开资料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