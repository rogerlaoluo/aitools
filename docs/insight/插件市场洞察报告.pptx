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4" Type="http://schemas.openxmlformats.org/officeDocument/2006/relationships/slide" Target="slides/slide4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6" Type="http://schemas.openxmlformats.org/officeDocument/2006/relationships/slide" Target="slides/slide26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tableStyles" Target="tableStyle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" name="TextBox 2"/>
          <p:cNvSpPr txBox="true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true">
                <a:solidFill>
                  <a:srgbClr val="FFFFFF"/>
                </a:solidFill>
              </a:defRPr>
            </a:pPr>
            <a:r>
              <a:rPr/>
              <a:t>插件市场洞察报告</a:t>
            </a:r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rPr/>
              <a:t>商业模式、开发者收益与创业指南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0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目录</a:t>
            </a:r>
            <a:endParaRPr/>
          </a:p>
        </p:txBody>
      </p:sp>
      <p:sp>
        <p:nvSpPr>
          <p:cNvPr id="51" name="TextBox 3"/>
          <p:cNvSpPr txBox="true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01 市场概览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02 主流平台对比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03 商业模式分析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04 开发者收益分成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05 个人开发者创业策略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06 成功案例与启示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07 风险与挑战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/>
                </a:solidFill>
              </a:defRPr>
            </a:pPr>
            <a:r>
              <a:rPr/>
              <a:t>08 行动指南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3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01</a:t>
            </a:r>
            <a:endParaRPr/>
          </a:p>
        </p:txBody>
      </p:sp>
      <p:sp>
        <p:nvSpPr>
          <p:cNvPr id="94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市场概览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7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插件市场规模对比</a:t>
            </a:r>
            <a:endParaRPr/>
          </a:p>
        </p:txBody>
      </p:sp>
      <p:graphicFrame>
        <p:nvGraphicFramePr>
          <p:cNvPr id="98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平台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应用数量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开发者数量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市场规模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Salesforce AppExchange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6,000+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3,600+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$27-60亿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Atlassian Marketplace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1,500+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$10亿+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Shopify App Store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8,000+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2,500+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$10-20亿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WordPress Plugin Repo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60,000+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15,000+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数十亿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Chrome Web Store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200,000+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50,000+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$5-10亿</a:t>
                      </a:r>
                      <a:endParaRPr/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VS Code Marketplace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50,000+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20,000+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数十亿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1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插件市场发展趋势</a:t>
            </a:r>
            <a:endParaRPr/>
          </a:p>
        </p:txBody>
      </p:sp>
      <p:sp>
        <p:nvSpPr>
          <p:cNvPr id="102" name="TextBox 3"/>
          <p:cNvSpPr txBox="true"/>
          <p:nvPr/>
        </p:nvSpPr>
        <p:spPr>
          <a:xfrm rot="0" flipH="false" flipV="false">
            <a:off x="364127" y="1432424"/>
            <a:ext cx="7683500" cy="438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企业</a:t>
            </a:r>
            <a:r>
              <a:rPr sz="1800"/>
              <a:t>SaaS</a:t>
            </a:r>
            <a:r>
              <a:rPr sz="1800"/>
              <a:t>化推动插件生态爆发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  </a:t>
            </a:r>
            <a:r>
              <a:rPr sz="1800"/>
              <a:t>每家企业平均使用</a:t>
            </a:r>
            <a:r>
              <a:rPr sz="1800"/>
              <a:t>20+ SaaS</a:t>
            </a:r>
            <a:r>
              <a:rPr sz="1800"/>
              <a:t>应用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  </a:t>
            </a:r>
            <a:r>
              <a:rPr sz="1800"/>
              <a:t>插件成为企业核心能力延伸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AI</a:t>
            </a:r>
            <a:r>
              <a:rPr sz="1800"/>
              <a:t>驱动的新一轮插件浪潮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  AI</a:t>
            </a:r>
            <a:r>
              <a:rPr sz="1800"/>
              <a:t>助手、自动化工具成为热点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垂直化、专业化趋势明显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  </a:t>
            </a:r>
            <a:r>
              <a:rPr sz="1800"/>
              <a:t>通用插件饱和，垂直领域机会增多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低代码</a:t>
            </a:r>
            <a:r>
              <a:rPr sz="1800"/>
              <a:t>/</a:t>
            </a:r>
            <a:r>
              <a:rPr sz="1800"/>
              <a:t>无代码插件平台兴起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800"/>
              <a:t>  </a:t>
            </a:r>
            <a:r>
              <a:rPr sz="1800"/>
              <a:t>降低开发门槛，扩大潜在用户群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5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02</a:t>
            </a:r>
            <a:endParaRPr/>
          </a:p>
        </p:txBody>
      </p:sp>
      <p:sp>
        <p:nvSpPr>
          <p:cNvPr id="106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主流平台对比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9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主流插件平台对比</a:t>
            </a:r>
            <a:endParaRPr/>
          </a:p>
        </p:txBody>
      </p:sp>
      <p:graphicFrame>
        <p:nvGraphicFramePr>
          <p:cNvPr id="110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平台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目标用户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审核周期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推广难度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Salesforce AppExchange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企业客户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2-8周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高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Atlassian Marketplace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开发团队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1-4周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中等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Shopify App Store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电商商家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1-2周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中等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WordPress Plugin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网站主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即时-数周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低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Chrome Web Store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所有用户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1-3天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低</a:t>
                      </a:r>
                      <a:endParaRPr/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VS Code Marketplace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开发者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即时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低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3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平台特点对比</a:t>
            </a:r>
            <a:endParaRPr/>
          </a:p>
        </p:txBody>
      </p:sp>
      <p:sp>
        <p:nvSpPr>
          <p:cNvPr id="114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企业级</a:t>
            </a:r>
            <a:endParaRPr/>
          </a:p>
        </p:txBody>
      </p:sp>
      <p:sp>
        <p:nvSpPr>
          <p:cNvPr id="115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企业级平台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Salesforce AppExchange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Atlassian Marketplace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高客单价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长审核周期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企业级要求</a:t>
            </a:r>
            <a:endParaRPr/>
          </a:p>
        </p:txBody>
      </p:sp>
      <p:sp>
        <p:nvSpPr>
          <p:cNvPr id="116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00C853"/>
                </a:solidFill>
              </a:defRPr>
            </a:pPr>
            <a:r>
              <a:rPr/>
              <a:t>消费者级</a:t>
            </a:r>
            <a:endParaRPr/>
          </a:p>
        </p:txBody>
      </p:sp>
      <p:sp>
        <p:nvSpPr>
          <p:cNvPr id="117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消费者平台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Chrome Web Store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WordPress Plugin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低门槛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快速上线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竞争激烈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0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03</a:t>
            </a:r>
            <a:endParaRPr/>
          </a:p>
        </p:txBody>
      </p:sp>
      <p:sp>
        <p:nvSpPr>
          <p:cNvPr id="121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商业模式分析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插件变现模式</a:t>
            </a:r>
            <a:endParaRPr/>
          </a:p>
        </p:txBody>
      </p:sp>
      <p:sp>
        <p:nvSpPr>
          <p:cNvPr id="8" name="TextBox 3"/>
          <p:cNvSpPr txBox="true"/>
          <p:nvPr/>
        </p:nvSpPr>
        <p:spPr>
          <a:xfrm rot="0" flipH="false" flipV="false">
            <a:off x="323306" y="1289549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订阅制（</a:t>
            </a:r>
            <a:r>
              <a:rPr sz="1400"/>
              <a:t>Subscription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月付</a:t>
            </a:r>
            <a:r>
              <a:rPr sz="1400"/>
              <a:t>/</a:t>
            </a:r>
            <a:r>
              <a:rPr sz="1400"/>
              <a:t>年付，稳定现金流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SaaS</a:t>
            </a:r>
            <a:r>
              <a:rPr sz="1400"/>
              <a:t>插件主流模式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一次性购买（</a:t>
            </a:r>
            <a:r>
              <a:rPr sz="1400"/>
              <a:t>Lifetime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永久授权，用户买断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WordPress</a:t>
            </a:r>
            <a:r>
              <a:rPr sz="1400"/>
              <a:t>插件常见模式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免费</a:t>
            </a:r>
            <a:r>
              <a:rPr sz="1400"/>
              <a:t>+</a:t>
            </a:r>
            <a:r>
              <a:rPr sz="1400"/>
              <a:t>增值（</a:t>
            </a:r>
            <a:r>
              <a:rPr sz="1400"/>
              <a:t>Freemium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基础免费，高级付费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降低获客成本，扩大用户群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按用量计费（</a:t>
            </a:r>
            <a:r>
              <a:rPr sz="1400"/>
              <a:t>Usage-based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API</a:t>
            </a:r>
            <a:r>
              <a:rPr sz="1400"/>
              <a:t>调用、存储等按量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适合工具类插件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定价策略分析</a:t>
            </a:r>
            <a:endParaRPr/>
          </a:p>
        </p:txBody>
      </p:sp>
      <p:sp>
        <p:nvSpPr>
          <p:cNvPr id="12" name="TextBox 3"/>
          <p:cNvSpPr txBox="true"/>
          <p:nvPr/>
        </p:nvSpPr>
        <p:spPr>
          <a:xfrm rot="0" flipH="false" flipV="false">
            <a:off x="231458" y="1330370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分层定价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Basic/Pro/Enterprise </a:t>
            </a:r>
            <a:r>
              <a:rPr sz="1400"/>
              <a:t>三档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覆盖不同用户预算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价值定价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基于客户获得的价值定价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适合企业级插件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竞争定价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参考竞品定价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适合成熟市场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渗透定价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低价快速获取用户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适合新入场开发者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04</a:t>
            </a:r>
            <a:endParaRPr/>
          </a:p>
        </p:txBody>
      </p:sp>
      <p:sp>
        <p:nvSpPr>
          <p:cNvPr id="16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开发者收益分成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9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各平台分成比例</a:t>
            </a:r>
            <a:endParaRPr/>
          </a:p>
        </p:txBody>
      </p:sp>
      <p:graphicFrame>
        <p:nvGraphicFramePr>
          <p:cNvPr id="20" name="Table 3"/>
          <p:cNvGraphicFramePr/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平台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开发者分成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平台抽成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true">
                          <a:solidFill>
                            <a:srgbClr val="FFFFFF"/>
                          </a:solidFill>
                        </a:defRPr>
                      </a:pPr>
                      <a:r>
                        <a:rPr/>
                        <a:t>备注</a:t>
                      </a:r>
                      <a:endParaRPr/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Atlassian Marketplace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75%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2026年起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Salesforce AppExchange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70-85%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15-30%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取决于计划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Shopify App Store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80%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20%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另有支付费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Chrome Web Store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95%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仅一次性费用</a:t>
                      </a:r>
                      <a:endParaRPr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WordPress.org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100%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完全免费</a:t>
                      </a:r>
                      <a:endParaRPr/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WooCommerce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70%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30%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1F20"/>
                          </a:solidFill>
                        </a:defRPr>
                      </a:pPr>
                      <a:r>
                        <a:rPr/>
                        <a:t>官方市场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3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开发者收入潜力</a:t>
            </a:r>
            <a:endParaRPr/>
          </a:p>
        </p:txBody>
      </p:sp>
      <p:sp>
        <p:nvSpPr>
          <p:cNvPr id="24" name="TextBox 3"/>
          <p:cNvSpPr txBox="true"/>
          <p:nvPr/>
        </p:nvSpPr>
        <p:spPr>
          <a:xfrm rot="0" flipH="false" flipV="false">
            <a:off x="242888" y="1289549"/>
            <a:ext cx="7957820" cy="47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头部插件（</a:t>
            </a:r>
            <a:r>
              <a:rPr sz="1400"/>
              <a:t>Top 1%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月收入</a:t>
            </a:r>
            <a:r>
              <a:rPr sz="1400"/>
              <a:t> $50K - $500K+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团队运营，持续迭代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腰部插件（</a:t>
            </a:r>
            <a:r>
              <a:rPr sz="1400"/>
              <a:t>Top 10%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月收入</a:t>
            </a:r>
            <a:r>
              <a:rPr sz="1400"/>
              <a:t> $5K - $50K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个人</a:t>
            </a:r>
            <a:r>
              <a:rPr sz="1400"/>
              <a:t>/</a:t>
            </a:r>
            <a:r>
              <a:rPr sz="1400"/>
              <a:t>小团队可行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长尾插件（其余）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月收入</a:t>
            </a:r>
            <a:r>
              <a:rPr sz="1400"/>
              <a:t> $100 - $5K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副业收入为主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收入分布符合幂律法则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头部获得大部分收益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7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05</a:t>
            </a:r>
            <a:endParaRPr/>
          </a:p>
        </p:txBody>
      </p:sp>
      <p:sp>
        <p:nvSpPr>
          <p:cNvPr id="28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个人开发者创业策略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1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平台选择策略</a:t>
            </a:r>
            <a:endParaRPr/>
          </a:p>
        </p:txBody>
      </p:sp>
      <p:sp>
        <p:nvSpPr>
          <p:cNvPr id="32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推荐起步</a:t>
            </a:r>
            <a:endParaRPr/>
          </a:p>
        </p:txBody>
      </p:sp>
      <p:sp>
        <p:nvSpPr>
          <p:cNvPr id="33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适合个人开发者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Chrome Web Store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WordPress Plugin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VS Code Marketplace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低门槛快速验证</a:t>
            </a:r>
            <a:endParaRPr/>
          </a:p>
        </p:txBody>
      </p:sp>
      <p:sp>
        <p:nvSpPr>
          <p:cNvPr id="34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00C853"/>
                </a:solidFill>
              </a:defRPr>
            </a:pPr>
            <a:r>
              <a:rPr/>
              <a:t>进阶选择</a:t>
            </a:r>
            <a:endParaRPr/>
          </a:p>
        </p:txBody>
      </p:sp>
      <p:sp>
        <p:nvSpPr>
          <p:cNvPr id="35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需要一定资源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Shopify App Store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Atlassian Marketplace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Salesforce AppExchange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企业级收益高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8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入场策略：MVP优先</a:t>
            </a:r>
            <a:endParaRPr/>
          </a:p>
        </p:txBody>
      </p:sp>
      <p:sp>
        <p:nvSpPr>
          <p:cNvPr id="39" name="TextBox 3"/>
          <p:cNvSpPr txBox="true"/>
          <p:nvPr/>
        </p:nvSpPr>
        <p:spPr>
          <a:xfrm rot="0" flipH="false" flipV="false">
            <a:off x="344941" y="1289549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第一步：选择细分赛道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避开红海，选择垂直领域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解决真实痛点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第二步：快速开发</a:t>
            </a:r>
            <a:r>
              <a:rPr sz="1400"/>
              <a:t>MVP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2-4</a:t>
            </a:r>
            <a:r>
              <a:rPr sz="1400"/>
              <a:t>周完成首个版本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核心功能优先，打磨体验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第三步：小范围测试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在社区发布获取反馈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快速迭代优化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第四步：正式上线市场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准备营销材料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发布到目标平台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2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06</a:t>
            </a:r>
            <a:endParaRPr/>
          </a:p>
        </p:txBody>
      </p:sp>
      <p:sp>
        <p:nvSpPr>
          <p:cNvPr id="43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成功案例与启示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6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个人开发者成功案例</a:t>
            </a:r>
            <a:endParaRPr/>
          </a:p>
        </p:txBody>
      </p:sp>
      <p:sp>
        <p:nvSpPr>
          <p:cNvPr id="47" name="TextBox 3"/>
          <p:cNvSpPr txBox="true"/>
          <p:nvPr/>
        </p:nvSpPr>
        <p:spPr>
          <a:xfrm rot="0" flipH="false" flipV="false">
            <a:off x="241663" y="1299754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Chrome</a:t>
            </a:r>
            <a:r>
              <a:rPr sz="1400"/>
              <a:t>扩展：</a:t>
            </a:r>
            <a:r>
              <a:rPr sz="1400"/>
              <a:t>Grammarly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从个人项目到年收入数亿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AI</a:t>
            </a:r>
            <a:r>
              <a:rPr sz="1400"/>
              <a:t>驱动，解决真实痛点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WordPress</a:t>
            </a:r>
            <a:r>
              <a:rPr sz="1400"/>
              <a:t>插件：</a:t>
            </a:r>
            <a:r>
              <a:rPr sz="1400"/>
              <a:t>Yoast SEO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个人开发起步，被公司收购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专注垂直领域（</a:t>
            </a:r>
            <a:r>
              <a:rPr sz="1400"/>
              <a:t>SEO</a:t>
            </a:r>
            <a:r>
              <a:rPr sz="1400"/>
              <a:t>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VS Code</a:t>
            </a:r>
            <a:r>
              <a:rPr sz="1400"/>
              <a:t>插件：</a:t>
            </a:r>
            <a:r>
              <a:rPr sz="1400"/>
              <a:t>Live Server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简单功能，千万级下载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开发者体验优先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Shopify App</a:t>
            </a:r>
            <a:r>
              <a:rPr sz="1400"/>
              <a:t>：</a:t>
            </a:r>
            <a:r>
              <a:rPr sz="1400"/>
              <a:t>Judge.me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专注产品评论功能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年收入数百万美元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4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成功要素总结</a:t>
            </a:r>
            <a:endParaRPr/>
          </a:p>
        </p:txBody>
      </p:sp>
      <p:sp>
        <p:nvSpPr>
          <p:cNvPr id="55" name="TextBox 3"/>
          <p:cNvSpPr txBox="true"/>
          <p:nvPr/>
        </p:nvSpPr>
        <p:spPr>
          <a:xfrm rot="0" flipH="false" flipV="false">
            <a:off x="221252" y="1289549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解决真实痛点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不是为了做插件而做插件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从自己或他人的痛点出发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极致的用户体验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UI/UX</a:t>
            </a:r>
            <a:r>
              <a:rPr sz="1400"/>
              <a:t>打磨到位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性能稳定，不拖慢主应用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持续迭代优化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快速响应用户反馈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保持与平台更新同步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有效的获客策略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SEO</a:t>
            </a:r>
            <a:r>
              <a:rPr sz="1400"/>
              <a:t>、内容营销、社区运营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充分利用平台推荐机制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8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07</a:t>
            </a:r>
            <a:endParaRPr/>
          </a:p>
        </p:txBody>
      </p:sp>
      <p:sp>
        <p:nvSpPr>
          <p:cNvPr id="59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风险与挑战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2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主要风险与挑战</a:t>
            </a:r>
            <a:endParaRPr/>
          </a:p>
        </p:txBody>
      </p:sp>
      <p:sp>
        <p:nvSpPr>
          <p:cNvPr id="63" name="TextBox 3"/>
          <p:cNvSpPr txBox="true"/>
          <p:nvPr/>
        </p:nvSpPr>
        <p:spPr>
          <a:xfrm rot="0" flipH="false" flipV="false">
            <a:off x="292690" y="1330370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平台依赖风险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平台政策变化可能影响收入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账号被封等于归零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市场竞争加剧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低门槛导致竞争激烈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需要持续创新保持优势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维护成本压力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需要持续更新维护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用户支持耗时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收入不确定性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初期收入不稳定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需要备选方案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6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风险应对策略</a:t>
            </a:r>
            <a:endParaRPr/>
          </a:p>
        </p:txBody>
      </p:sp>
      <p:sp>
        <p:nvSpPr>
          <p:cNvPr id="67" name="TextBox 3"/>
          <p:cNvSpPr txBox="true"/>
          <p:nvPr/>
        </p:nvSpPr>
        <p:spPr>
          <a:xfrm rot="0" flipH="false" flipV="false">
            <a:off x="374333" y="1269138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多平台布局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不依赖单一平台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降低政策变动风险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构建自有流量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建立官网、邮件列表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社交媒体运营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产品矩阵化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开发多个相关插件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分散风险，增加收入来源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提供增值服务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定制开发、咨询服务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减少对平台分成的依赖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0" name="TextBox 2"/>
          <p:cNvSpPr txBox="true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true">
                <a:solidFill>
                  <a:srgbClr val="2962FF"/>
                </a:solidFill>
              </a:defRPr>
            </a:pPr>
            <a:r>
              <a:rPr/>
              <a:t>08</a:t>
            </a:r>
            <a:endParaRPr/>
          </a:p>
        </p:txBody>
      </p:sp>
      <p:sp>
        <p:nvSpPr>
          <p:cNvPr id="71" name="TextBox 3"/>
          <p:cNvSpPr txBox="true"/>
          <p:nvPr/>
        </p:nvSpPr>
        <p:spPr>
          <a:xfrm>
            <a:off x="4572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true">
                <a:solidFill>
                  <a:srgbClr val="231F20"/>
                </a:solidFill>
              </a:defRPr>
            </a:pPr>
            <a:r>
              <a:rPr/>
              <a:t>行动指南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4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个人开发者行动指南</a:t>
            </a:r>
            <a:endParaRPr/>
          </a:p>
        </p:txBody>
      </p:sp>
      <p:sp>
        <p:nvSpPr>
          <p:cNvPr id="75" name="TextBox 3"/>
          <p:cNvSpPr txBox="true"/>
          <p:nvPr/>
        </p:nvSpPr>
        <p:spPr>
          <a:xfrm rot="0" flipH="false" flipV="false">
            <a:off x="272279" y="1299754"/>
            <a:ext cx="7683500" cy="51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Week 1-2: </a:t>
            </a:r>
            <a:r>
              <a:rPr sz="1400"/>
              <a:t>市场调研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分析目标平台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找到细分机会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Week 3-6: MVP</a:t>
            </a:r>
            <a:r>
              <a:rPr sz="1400"/>
              <a:t>开发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核心功能实现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内测验证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Week 7-8: </a:t>
            </a:r>
            <a:r>
              <a:rPr sz="1400"/>
              <a:t>市场准备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素材准备（图标、截图）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文档撰写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Week 9+: </a:t>
            </a:r>
            <a:r>
              <a:rPr sz="1400"/>
              <a:t>发布与迭代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正式发布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收集反馈，持续优化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8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快速入门推荐</a:t>
            </a:r>
            <a:endParaRPr/>
          </a:p>
        </p:txBody>
      </p:sp>
      <p:sp>
        <p:nvSpPr>
          <p:cNvPr id="79" name="TextBox 3"/>
          <p:cNvSpPr txBox="true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FF8000"/>
                </a:solidFill>
              </a:defRPr>
            </a:pPr>
            <a:r>
              <a:rPr/>
              <a:t>入门</a:t>
            </a:r>
            <a:endParaRPr/>
          </a:p>
        </p:txBody>
      </p:sp>
      <p:sp>
        <p:nvSpPr>
          <p:cNvPr id="80" name="TextBox 4"/>
          <p:cNvSpPr txBox="true"/>
          <p:nvPr/>
        </p:nvSpPr>
        <p:spPr>
          <a:xfrm>
            <a:off x="457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零基础推荐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Chrome扩展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JavaScript/HTML/CSS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3天上手，1周发布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WordPress插件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PHP开发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文档完善，社区友好</a:t>
            </a:r>
            <a:endParaRPr/>
          </a:p>
        </p:txBody>
      </p:sp>
      <p:sp>
        <p:nvSpPr>
          <p:cNvPr id="81" name="TextBox 5"/>
          <p:cNvSpPr txBox="true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true">
                <a:solidFill>
                  <a:srgbClr val="00C853"/>
                </a:solidFill>
              </a:defRPr>
            </a:pPr>
            <a:r>
              <a:rPr/>
              <a:t>进阶</a:t>
            </a:r>
            <a:endParaRPr/>
          </a:p>
        </p:txBody>
      </p:sp>
      <p:sp>
        <p:nvSpPr>
          <p:cNvPr id="82" name="TextBox 6"/>
          <p:cNvSpPr txBox="true"/>
          <p:nvPr/>
        </p:nvSpPr>
        <p:spPr>
          <a:xfrm>
            <a:off x="475488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有开发经验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VS Code插件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TypeScript/Node.js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开发者工具市场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Shopify App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Liquid/React</a:t>
            </a:r>
            <a:endParaRPr/>
          </a:p>
          <a:p>
            <a:pPr>
              <a:spcAft>
                <a:spcPts val="1000"/>
              </a:spcAft>
              <a:defRPr sz="1800">
                <a:solidFill>
                  <a:srgbClr val="231F20"/>
                </a:solidFill>
              </a:defRPr>
            </a:pPr>
            <a:r>
              <a:rPr/>
              <a:t>  电商方向，付费意愿高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5" name="TextBox 2"/>
          <p:cNvSpPr txBox="true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true">
                <a:solidFill>
                  <a:srgbClr val="FFFFFF"/>
                </a:solidFill>
              </a:defRPr>
            </a:pPr>
            <a:r>
              <a:rPr/>
              <a:t>核心要点总结</a:t>
            </a:r>
            <a:endParaRPr/>
          </a:p>
        </p:txBody>
      </p:sp>
      <p:sp>
        <p:nvSpPr>
          <p:cNvPr id="86" name="TextBox 3"/>
          <p:cNvSpPr txBox="true"/>
          <p:nvPr/>
        </p:nvSpPr>
        <p:spPr>
          <a:xfrm rot="0" flipH="false" flipV="false">
            <a:off x="190636" y="1371192"/>
            <a:ext cx="7683500" cy="427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插件市场规模数千亿美元，机会巨大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个人开发者仍有机会，但需策略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选择垂直细分赛道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快速验证，持续迭代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平台分成从</a:t>
            </a:r>
            <a:r>
              <a:rPr sz="1400"/>
              <a:t>0-30%</a:t>
            </a:r>
            <a:r>
              <a:rPr sz="1400"/>
              <a:t>不等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开发者可获得</a:t>
            </a:r>
            <a:r>
              <a:rPr sz="1400"/>
              <a:t>70-100%</a:t>
            </a:r>
            <a:r>
              <a:rPr sz="1400"/>
              <a:t>收益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成功关键：解决真实痛点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优秀的用户体验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持续的迭代优化</a:t>
            </a:r>
            <a:endParaRPr/>
          </a:p>
          <a:p>
            <a:pPr>
              <a:spcAft>
                <a:spcPts val="1800"/>
              </a:spcAft>
              <a:defRPr sz="2400">
                <a:solidFill>
                  <a:srgbClr val="231F20">
                    <a:alpha val="100000"/>
                  </a:srgbClr>
                </a:solidFill>
                <a:latin typeface="Calibri"/>
                <a:ea typeface="宋体"/>
                <a:cs typeface="+mn-cs"/>
              </a:defRPr>
            </a:pPr>
            <a:r>
              <a:rPr sz="1400"/>
              <a:t>  </a:t>
            </a:r>
            <a:r>
              <a:rPr sz="1400"/>
              <a:t>有效的获客策略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9" name="TextBox 2"/>
          <p:cNvSpPr txBox="true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true">
                <a:solidFill>
                  <a:srgbClr val="FFFFFF"/>
                </a:solidFill>
              </a:defRPr>
            </a:pPr>
            <a:r>
              <a:rPr/>
              <a:t>谢谢</a:t>
            </a:r>
            <a:endParaRPr/>
          </a:p>
        </p:txBody>
      </p:sp>
      <p:sp>
        <p:nvSpPr>
          <p:cNvPr id="90" name="TextBox 3"/>
          <p:cNvSpPr txBox="true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rPr/>
              <a:t>插件市场洞察与个人开发者创业指南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2026-01-26T10:54:38Z</dcterms:created>
  <dcterms:modified xsi:type="dcterms:W3CDTF">2026-01-26T10:54:38Z</dcterms:modified>
</cp:coreProperties>
</file>